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音组、律制、等音、复合音、分音列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乐音体系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一、钢琴乐音体系的音组划分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533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6269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7203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813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1907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80006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788920"/>
            <a:ext cx="1126541" cy="2743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大字二组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40941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01875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6281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2374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8467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45613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06547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40941" y="2788920"/>
            <a:ext cx="1126541" cy="2743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0941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大字一组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6748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8416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935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0285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11219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215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3308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67482" y="2788920"/>
            <a:ext cx="1126541" cy="2743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67482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大字组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402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54957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5891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76826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9869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59629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94022" y="2788920"/>
            <a:ext cx="1126541" cy="2743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4022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小字组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20563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8149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4243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03366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64301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25235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8617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20563" y="2788920"/>
            <a:ext cx="1126541" cy="2743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0563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小字一组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4710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0803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868973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029907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9084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51776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1271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47104" y="2788920"/>
            <a:ext cx="1126541" cy="2743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47104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小字二组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673645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34579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9551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5644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1738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78317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639251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673645" y="2788920"/>
            <a:ext cx="1126541" cy="2743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73645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小字三组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800186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61120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22054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82989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443923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604858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765792" y="1280160"/>
            <a:ext cx="160934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2C1A2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800186" y="2788920"/>
            <a:ext cx="1126541" cy="2743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00186" y="2788920"/>
            <a:ext cx="11265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小字四组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466283" y="1005840"/>
            <a:ext cx="0" cy="22860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63363" y="777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(c¹)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48640" y="3657600"/>
            <a:ext cx="112014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8640" y="3657600"/>
            <a:ext cx="73152" cy="26060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7240" y="37947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音组划分体系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777240" y="4206240"/>
            <a:ext cx="10835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钢琴上的乐音按八度关系分为若干组，从低到高依次为：大字二组 → 大字一组 → 大字组 → 小字组 → 小字一组 → 小字二组 → 小字三组 → 小字四组 → 小字五组 (仅 c⁵)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的位置：小字一组的 c¹ 即标准钢琴键盘正中央的 C 音，国际记法为 C4，频率约 261.63 Hz。它位于：高音谱号下加一线 / 低音谱号上加一线 / 钢琴键盘正中央——三种参考方式同一个音。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音组记法：大写字母 (大字组及更低)，小写字母带数字上标 (小字组及更高，如 c¹、a²、c⁴)。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二、三种主要律制  Three Tuning Systems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十二平均律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Equal Temperament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将一个八度均分为 12 个完全相等的半音。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半音频率比：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¹²√2 ≈ 1.05946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转调自由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适合复杂和声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现代键盘乐器标准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除八度外，所有音程都不是完美整数比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Just Intonation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基于自然泛音列的简单整数比。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常见音程比：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八度    2 : 1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纯五度  3 : 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大三度  5 : 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大六度  5 : 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音程纯净和谐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无伴奏合唱效果完美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转调困难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不适合键盘乐器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051560"/>
            <a:ext cx="37033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051560"/>
            <a:ext cx="73152" cy="5212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11887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五度相生律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49640" y="1600200"/>
            <a:ext cx="3337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Pythagorean Tuning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以纯五度 (3:2) 连续生成各音。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中国古代「三分损益法」属此类。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生成顺序：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G → D → A → E → B → F♯ 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五度极其纯净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适合单声部音乐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大三度偏宽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不适合三和弦音乐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三、等音与泛音列  Enharmonics &amp; Harmonic Series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等音 Enharmonic Equivalents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在十二平均律中，音名不同但实际音高相同的音。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常见等音对：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C♯ = D♭        • D♯ = E♭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F♯ = G♭        • G♯ = A♭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A♯ = B♭        • E♯ = F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B♯ = C          • F♭ = E         • C♭ = B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为什么需要等音？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作曲家根据调性选择更合适的写法：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 大调中倾向写 F♯ (而非 G♭)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A♭ 大调中倾向写 G♭ (而非 F♯)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这样能保持调式音阶的完整性，并使和声进行的逻辑更清晰。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分音列 / 泛音列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1691640"/>
            <a:ext cx="4389120" cy="201168"/>
          </a:xfrm>
          <a:prstGeom prst="rect">
            <a:avLst/>
          </a:prstGeom>
          <a:solidFill>
            <a:srgbClr val="6D2E46"/>
          </a:solidFill>
          <a:ln w="12700">
            <a:solidFill>
              <a:srgbClr val="D4B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0" y="16733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基音 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011680"/>
            <a:ext cx="2674620" cy="201168"/>
          </a:xfrm>
          <a:prstGeom prst="rect">
            <a:avLst/>
          </a:prstGeom>
          <a:solidFill>
            <a:srgbClr val="C8956D">
              <a:alpha val="92000"/>
            </a:srgbClr>
          </a:solidFill>
          <a:ln w="12700">
            <a:solidFill>
              <a:srgbClr val="D4B5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1180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2331720"/>
            <a:ext cx="1783080" cy="201168"/>
          </a:xfrm>
          <a:prstGeom prst="rect">
            <a:avLst/>
          </a:prstGeom>
          <a:solidFill>
            <a:srgbClr val="C8956D">
              <a:alpha val="84000"/>
            </a:srgbClr>
          </a:solidFill>
          <a:ln w="12700">
            <a:solidFill>
              <a:srgbClr val="D4B5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23134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2651760"/>
            <a:ext cx="1337310" cy="201168"/>
          </a:xfrm>
          <a:prstGeom prst="rect">
            <a:avLst/>
          </a:prstGeom>
          <a:solidFill>
            <a:srgbClr val="C8956D">
              <a:alpha val="76000"/>
            </a:srgbClr>
          </a:solidFill>
          <a:ln w="12700">
            <a:solidFill>
              <a:srgbClr val="D4B5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03870" y="2633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971800"/>
            <a:ext cx="1069848" cy="201168"/>
          </a:xfrm>
          <a:prstGeom prst="rect">
            <a:avLst/>
          </a:prstGeom>
          <a:solidFill>
            <a:srgbClr val="C8956D">
              <a:alpha val="68000"/>
            </a:srgbClr>
          </a:solidFill>
          <a:ln w="12700">
            <a:solidFill>
              <a:srgbClr val="D4B5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36408" y="2953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3291840"/>
            <a:ext cx="891540" cy="201168"/>
          </a:xfrm>
          <a:prstGeom prst="rect">
            <a:avLst/>
          </a:prstGeom>
          <a:solidFill>
            <a:srgbClr val="C8956D">
              <a:alpha val="60000"/>
            </a:srgbClr>
          </a:solidFill>
          <a:ln w="12700">
            <a:solidFill>
              <a:srgbClr val="D4B5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8100" y="32735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93192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基音决定音高，泛音决定音色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频率为基音的整数倍 (1f, 2f, 3f, 4f...)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泛音的音程关系：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基音 → 八度 → 八度+五度 → 两个八度 → 两个八度+大三度 → ...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这是西方和声体系的物理基础。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四、音域与音区  Range and Register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音域 Range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某乐器或人声所能发出的从最低到最高音的总范围。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常见乐器音域：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钢琴       A2 – C5    (88 键)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小提琴    G3 – E7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长笛       C4 – D7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大提琴    C2 – C6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人声音域：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女高音    C4 – C6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女中音    A3 – A5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女低音    F3 – F5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男高音    C3 – C5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男中音    A2 – A4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男低音    E2 – E4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音区 Register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在某乐器或人声的音域中，按音色特点划分的区段。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通常划分为三个区：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低音区 (Low Register)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音色厚重、浑厚、深沉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适合表达庄严、悲壮情绪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中音区 (Middle Register)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音色自然、平稳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最接近人声，适合大多数旋律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高音区 (High Register)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音色明亮、清澈、富有穿透力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适合表达激动、辉煌情绪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了解音区有助于作曲家选择合适的乐器和写作合适的旋律。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音组划分与中央 C 定位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中央 C = c¹ = C4，是大谱表的衔接点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区分三种律制的核心特点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平均律转调自由；纯律和声纯净；五度相生律即三分损益法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会写常见等音对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C♯=D♭, F♯=G♭, E♯=F, B♯=C 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理解基音与泛音的关系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基音决定音高，泛音构成决定音色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区分音域 (总范围) 与音区 (区段)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音域是总范围，音区是其中按音色划分的区段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音组记法大小写混乱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小字组用小写字母+数字上标 (c¹)，大字组用大写字母 (C)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把纯律当成「最好的律制」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纯律虽和声纯净但无法转调，现代键盘必须用平均律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等音不知何时用哪个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看调性：升号系调用 ♯，降号系调用 ♭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误以为基音「最响」泛音「微弱」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基音通常最强，但泛音强度比例直接决定音色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混用音域与音区两个词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小提琴「音域 G3-E7」是总范围；高音区/低音区是音区划分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谱号与谱表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记谱法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一、五线谱基础  The Staff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71600" y="155448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87452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219456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031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251460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231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第2线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283464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43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第4间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06640" y="1920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2560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291840"/>
            <a:ext cx="36576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429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下加一线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201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14800"/>
            <a:ext cx="73152" cy="21488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25196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线、间、加线的命名规则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663440"/>
            <a:ext cx="1083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五线四间：从下到上数 — 第一线 (最低) → 第五线 (最高)；同样从下到上数四个间。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基本规则：音符位置越高 = 音高越高；每上移一个线或间 = 升高一个二度。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加线 (Ledger Lines)：当音高超出五线范围时，使用加线扩展。五线之上 → 上加一线、上加二线...；五线之下 → 下加一线、下加二线... 加线只为单个音符使用，不延伸到整行。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二、高音谱号 (G 谱号)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2024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9456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6888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188720"/>
            <a:ext cx="640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2C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𝄞</a:t>
            </a:r>
            <a:endParaRPr lang="en-US" sz="4600" dirty="0"/>
          </a:p>
        </p:txBody>
      </p:sp>
      <p:sp>
        <p:nvSpPr>
          <p:cNvPr id="14" name="Shape 12"/>
          <p:cNvSpPr/>
          <p:nvPr/>
        </p:nvSpPr>
        <p:spPr>
          <a:xfrm>
            <a:off x="2011680" y="236829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09397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181965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54533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27101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54864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383280"/>
            <a:ext cx="73152" cy="2880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五线 (从下到上)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931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第一线 — E4 (mi)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第二线 — G4 (sol)  ← 螺旋中心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第三线 — B4 (si)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第四线 — D5 (re)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第五线 — F5 (fa)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口诀：Every Good Boy Does Fine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E    G    B    D    F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383280"/>
            <a:ext cx="54864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383280"/>
            <a:ext cx="73152" cy="288036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四间 (从下到上)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3931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第一间 — F4 (fa)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第二间 — A4 (la)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第三间 — C5 (do)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第四间 — E5 (mi)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口诀：F-A-C-E → 「FACE」(英文「面孔」)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(C4) = 高音谱号下加一线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三、低音谱号 (F 谱号)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92024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9456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468880"/>
            <a:ext cx="5943600" cy="0"/>
          </a:xfrm>
          <a:prstGeom prst="line">
            <a:avLst/>
          </a:prstGeom>
          <a:noFill/>
          <a:ln w="12700">
            <a:solidFill>
              <a:srgbClr val="2C1A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28016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C1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𝄢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463040" y="1664208"/>
            <a:ext cx="73152" cy="73152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0" y="1828800"/>
            <a:ext cx="73152" cy="73152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236829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09397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81965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033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154533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1271016"/>
            <a:ext cx="274320" cy="20116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83280"/>
            <a:ext cx="54864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383280"/>
            <a:ext cx="73152" cy="28803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五线 (从下到上)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3931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第一线 — G2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第二线 — B2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第三线 — D3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第四线 — F3  ← 两点夹住的线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第五线 — A3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口诀：Good Boys Do Fine Always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G    B    D   F   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3383280"/>
            <a:ext cx="548640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3383280"/>
            <a:ext cx="73152" cy="288036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四间 (从下到上)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第一间 — A2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第二间 — C3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第三间 — E3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第四间 — G3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口诀：All Cows Eat Grass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      A    C   E   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(C4) = 低音谱号上加一线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四、C 谱号与大谱表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谱号 — 中心永远指向中央 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谱号的特点：符号的中心位置永远指向中央 C (C4)。根据中心所在的线不同，C 谱号有不同形式。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中音谱号 (Alto Clef)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中心位于第三线 → 第三线 = C4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主要用于：中提琴 (Viola)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中提琴专用谱号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次中音谱号 (Tenor Clef)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中心位于第四线 → 第四线 = C4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主要用于：大提琴、长号、巴松管的高音区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核心思路：让中央 C 始终位于谱表的中央区域，最大限度减少加线的使用。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大谱表 Grand Staff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钢琴等键盘乐器使用「大谱表」记谱，由两行五线谱组成：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上方：高音谱号 (右手 / 较高音区)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下方：低音谱号 (左手 / 较低音区)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两行通过左侧花括号 { 连接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的双重位置：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(C4) 位于两个谱表之间，可用两种方式记写：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高音谱表的下加一线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低音谱表的上加一线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这两个位置实际上是同一个音。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大谱表也用于：管风琴、竖琴、木琴、马林巴等。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五线四间从下到上的命名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第一线最低，第五线最高；间在两线之间，从下到上数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高音谱号五线音名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E-G-B-D-F (Every Good Boy Does Fine)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高音谱号四间音名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F-A-C-E (拼成 FACE)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低音谱号五线音名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G-B-D-F-A (Good Boys Do Fine Always)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低音谱号四间音名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A-C-E-G (All Cows Eat Grass)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中央 C 在大谱表中的两种位置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高音谱号下加一线 = 低音谱号上加一线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线和间数错方向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始终从下往上数，不要从上往下数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两套口诀混淆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高低音谱表的口诀完全不同，需分开记忆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识读加线音速度慢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先定位最近的五线谱位置，再向上/下推算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忘记中央 C 的两种写法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在大谱表中央位置遇到 C，要根据声部 (左手/右手) 选择写法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看到 C 谱号就慌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中提琴用中音谱号；记住「中心线 = 中央 C」就能推出其他音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音符与休止符的写法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记谱法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一、音符的构成  Parts of a Note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0" cy="1828800"/>
          </a:xfrm>
          <a:prstGeom prst="line">
            <a:avLst/>
          </a:prstGeom>
          <a:noFill/>
          <a:ln w="38100">
            <a:solidFill>
              <a:srgbClr val="2C1A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3017520"/>
            <a:ext cx="548640" cy="365760"/>
          </a:xfrm>
          <a:prstGeom prst="ellipse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71600"/>
            <a:ext cx="457200" cy="274320"/>
          </a:xfrm>
          <a:prstGeom prst="line">
            <a:avLst/>
          </a:prstGeom>
          <a:noFill/>
          <a:ln w="38100">
            <a:solidFill>
              <a:srgbClr val="2C1A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737360"/>
            <a:ext cx="457200" cy="274320"/>
          </a:xfrm>
          <a:prstGeom prst="line">
            <a:avLst/>
          </a:prstGeom>
          <a:noFill/>
          <a:ln w="38100">
            <a:solidFill>
              <a:srgbClr val="2C1A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3200400"/>
            <a:ext cx="64008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符头 Notehead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64008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符干 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508760"/>
            <a:ext cx="640080" cy="0"/>
          </a:xfrm>
          <a:prstGeom prst="line">
            <a:avLst/>
          </a:prstGeom>
          <a:noFill/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符尾 Flag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0" y="1188720"/>
            <a:ext cx="489204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188720"/>
            <a:ext cx="73152" cy="4937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325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三个组成部分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86600" y="1737360"/>
            <a:ext cx="45262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符头 Notehead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空心椭圆 → 全音符、二分音符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实心椭圆 → 四分音符及更短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位置即音高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符干 Stem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第三线及以上 → 朝下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第三线以下 → 朝上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全音符没有符干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符尾 Flag / Beam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每多一条符尾，时值减半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一条 → 八分音符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两条 → 十六分音符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三条 → 三十二分音符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同拍内同类音符可用符杠连接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二、音符时值体系  Note Values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4/4 拍中的时值关系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835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全音符  𝅝  =  4 拍   (whole note)        空心符头，无符干。一个全音符 = 一个完整的 4/4 拍小节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二分音符  𝅗𝅥  =  2 拍   (half note)        空心符头，带符干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四分音符  ♩  =  1 拍   (quarter note)        实心符头，带符干。是绝大多数现代音乐的「拍单位」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八分音符  ♪  =  ½ 拍   (eighth note)        实心符头，带符干和一条符尾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十六分音符  𝅘𝅥𝅯  =  ¼ 拍   (sixteenth note)       实心符头，带符干和两条符尾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三十二分音符  𝅘𝅥𝅰  =  ⅛ 拍   (thirty-second note)        实心符头，带符干和三条符尾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时值关系 (二分递减)：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全音符 = 2 二分音符 = 4 四分音符 = 8 八分音符 = 16 十六分音符 = 32 三十二分音符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这一「二分递减」的关系是西方记谱法的核心，使各种节奏的精确表达成为可能。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三、附点与连音线  Dots and 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 Dot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在音符右侧加一个小圆点，时值在原有基础上「增加一半」。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附点四分音符 ♩.  =  1.5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(1 拍 + ½ 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附点二分音符 𝅗𝅥.  =  3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附点八分音符 ♪.   =  ¾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附点全音符 𝅝.    =  6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复附点 (Double Dot)：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两个圆点 → 在原时值上增加 ¾。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复附点四分音符 = 1 + ½ + ¼ = 1¾ 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规则：每个点的增量都是前一个点的一半。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73152" cy="521208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连音线 Tie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600200"/>
            <a:ext cx="5120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连接两个相同音高的音符，使其时值相加成为一个连续的长音。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用法：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跨越小节线连接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在拍号不允许直接写出的长音中使用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例如，4/4 拍中要表示 5 拍长的 C 音：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第一小节末尾的 1 拍 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用连音线连接到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第二小节开头的 4 拍 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连音线 vs 连奏线：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连音线 (tie) — 连接相同音高，时值相加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连奏线 (slur) — 连接不同音高，表示连奏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两者外形相同，但音乐含义完全不同！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四、休止符  Rests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各类休止符的形态与时值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108356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全休止符 𝄻  =  4 拍        小矩形「悬挂」在第四线下方         记忆：「全休下挂」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二分休止符 𝄼  =  2 拍        小矩形「坐」在第三线上方             记忆：「二休上坐」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四分休止符 𝄽  =  1 拍        锯齿形或闪电状，位于五线谱中央位置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八分休止符 𝄾  =  ½ 拍        带斜线的小圆点 (看起来像「7」)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十六分休止符 𝄿  =  ¼ 拍       两个相连的小圆点，带斜线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三十二分休止符  =  ⅛ 拍       三个相连的小圆点，带斜线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附点休止符：与附点音符规则相同，时值增加一半。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特别注意：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在任何拍号中，全休止符都表示「整个小节休止」，即使小节实际拍数不等于 4 拍 (如 3/4 拍小节中的全休止符表示休 3 拍)。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休止符的音乐意义：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休止符并非「无声」，而是音乐节奏与结构的重要组成部分。恰当的休止能够营造期待感、强调下一拍、塑造乐句结构——「无声胜有声」。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本课重点 · 我容易出错的地方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我需要掌握  What I Should Master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音符的三个部分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符头 (位置即音高)、符干 (方向有规则)、符尾 (决定时值细分)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二分递减的时值关系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全 → 二分 → 四分 → 八分 → 十六分，每次减半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符干方向规则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第三线及以上朝下，第三线以下朝上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附点 = 增加一半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附点四分 = 1.5 拍；复附点 = 1.75 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连音线用于跨小节长音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4/4 拍中 5 拍长音必须用连音线跨小节写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全休止符表示「整小节休止」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无论拍号是几拍，全休止符都占满整个小节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4572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我容易出错的地方  Where I Often Get Stuck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749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符干方向画反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中线以上往下画 (尾朝下)，中线以下往上画 (尾朝上)；正好在第三线时看前后音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附点写在错误位置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附点写在符头右侧，不要写在上下方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算复附点时漏算第二个点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复附点四分 = 1 + ½ + ¼ = 1.75 拍，不是 1.5 拍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把连音线 (tie) 当成连奏线 (slur)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连接相同音高 = 连音线；连接不同音高 = 连奏线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全休止符与二分休止符画反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口诀：「全休下挂、二休上坐」，全休止符吊在第四线下方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忘记同拍内八分音符要用符杠连接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4/4 拍中两个八分音符应用符杠连成一组，不要画两条单独的符尾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2026-04-10T16:27:46Z</dcterms:created>
  <dcterms:modified xsi:type="dcterms:W3CDTF">2026-04-10T16:27:46Z</dcterms:modified>
</cp:coreProperties>
</file>