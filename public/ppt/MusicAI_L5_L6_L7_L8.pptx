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装饰音的定义与五种常见装饰音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装饰音与演奏符号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一、什么是装饰音  What are Ornaments?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装饰音 Ornaments / Embellishments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10835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定义：附加在旋律主音上的小音符或记号，用于丰富和美化旋律。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基本特点：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不影响主旋律的整体节拍结构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通常以特殊记号或小音符表示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演奏时迅速、轻盈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为音乐增加表现力与个性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历史背景：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装饰音是欧洲音乐的悠久传统，起源于早期声乐和键盘音乐。在不同历史时期，装饰音的演奏方式有所不同：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巴洛克时期 (1600–1750)：装饰音是即兴演奏的核心技巧。颤音、波音通常从「上方辅助音」开始演奏。代表作曲家：J.S. 巴赫、亨德尔。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古典时期 (1750–1820)：演奏方式逐渐规范化。莫扎特、海顿等作曲家在装饰音的写作上更加精确，颤音改为从「主音」开始。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浪漫时期 (1820–1900)：运用更加灵活，演奏方式因人而异。肖邦、李斯特的作品中常出现复杂的装饰音群。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现代时期 (1900–今)：作曲家通常会精确地写出所有音符，传统装饰音的使用减少。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了解装饰音的历史背景有助于演奏者做出风格正确的诠释。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二、颤音 (Trill) 与波音 (Mordent)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32004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08760"/>
            <a:ext cx="32004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737360"/>
            <a:ext cx="32004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965960"/>
            <a:ext cx="32004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194560"/>
            <a:ext cx="32004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1430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C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𝄞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2103120" y="1179576"/>
            <a:ext cx="256032" cy="182880"/>
          </a:xfrm>
          <a:prstGeom prst="ellipse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50008" y="539496"/>
            <a:ext cx="0" cy="731520"/>
          </a:xfrm>
          <a:prstGeom prst="line">
            <a:avLst/>
          </a:prstGeom>
          <a:noFill/>
          <a:ln w="19050">
            <a:solidFill>
              <a:srgbClr val="2C1A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914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颤音 Trill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主音 ↔ 上方二度音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快速交替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1280160"/>
            <a:ext cx="32004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508760"/>
            <a:ext cx="32004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1737360"/>
            <a:ext cx="32004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1965960"/>
            <a:ext cx="32004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2194560"/>
            <a:ext cx="32004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11430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C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𝄞</a:t>
            </a:r>
            <a:endParaRPr lang="en-US" sz="3800" dirty="0"/>
          </a:p>
        </p:txBody>
      </p:sp>
      <p:sp>
        <p:nvSpPr>
          <p:cNvPr id="25" name="Shape 23"/>
          <p:cNvSpPr/>
          <p:nvPr/>
        </p:nvSpPr>
        <p:spPr>
          <a:xfrm>
            <a:off x="5669280" y="1179576"/>
            <a:ext cx="256032" cy="182880"/>
          </a:xfrm>
          <a:prstGeom prst="ellipse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16168" y="539496"/>
            <a:ext cx="0" cy="731520"/>
          </a:xfrm>
          <a:prstGeom prst="line">
            <a:avLst/>
          </a:prstGeom>
          <a:noFill/>
          <a:ln w="19050">
            <a:solidFill>
              <a:srgbClr val="2C1A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914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𝆗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297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上波音 Upper Mordent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9768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主音 → 上方二度 → 主音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C → D → 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863840" y="1280160"/>
            <a:ext cx="32004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1508760"/>
            <a:ext cx="32004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1737360"/>
            <a:ext cx="32004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0" y="1965960"/>
            <a:ext cx="32004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2194560"/>
            <a:ext cx="32004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11430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C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𝄞</a:t>
            </a:r>
            <a:endParaRPr lang="en-US" sz="3800" dirty="0"/>
          </a:p>
        </p:txBody>
      </p:sp>
      <p:sp>
        <p:nvSpPr>
          <p:cNvPr id="36" name="Shape 34"/>
          <p:cNvSpPr/>
          <p:nvPr/>
        </p:nvSpPr>
        <p:spPr>
          <a:xfrm>
            <a:off x="9235440" y="1179576"/>
            <a:ext cx="256032" cy="182880"/>
          </a:xfrm>
          <a:prstGeom prst="ellipse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82328" y="539496"/>
            <a:ext cx="0" cy="731520"/>
          </a:xfrm>
          <a:prstGeom prst="line">
            <a:avLst/>
          </a:prstGeom>
          <a:noFill/>
          <a:ln w="19050">
            <a:solidFill>
              <a:srgbClr val="2C1A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0" y="914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𝆘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8638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下波音 Lower Mordent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86384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主音 → 下方二度 → 主音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C → B → 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3749040"/>
            <a:ext cx="1120140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3749040"/>
            <a:ext cx="73152" cy="25146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388620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演奏要点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" y="4297680"/>
            <a:ext cx="10835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颤音 (Trill)：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记号 tr 写在音符上方；巴洛克时期从上方辅助音开始，古典与浪漫时期从主音开始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速度均匀，每秒约 6-12 次；通常以「下方音 → 主音」收尾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波音：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上波音 𝆗 与下波音 𝆘 各由三个音组成，整体快速演奏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占用主音时值的一小部分；波音可视为「最短的颤音」——只交替一次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三、回音 (Turn) 与倚音 (Appoggiatura/Acciaccatura)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回音 Turn  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由四个音组成，按以下顺序快速演奏：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上方音 → 主音 → 下方音 → 主音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例如，C 音上的回音演奏为：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→ C → B → 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四个音围绕主音「转一圈」，因此得名「回音」。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回音的两种位置：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写在音符正上方 (Direct Turn)：回音从主音开始之前演奏完毕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写在两个音符之间 (Delayed Turn)：主音先演奏一段，然后才开始回音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反向回音 Inverted Turn：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演奏顺序相反：下方音 → 主音 → 上方音 → 主音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演奏要点：四个音速度均匀，整体迅速但清晰，不破坏主旋律的节奏感。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前倚音 与 后倚音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前倚音 Appoggiatura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小音符出现在主音前 (符头较小，无斜线)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长前倚音：占用主音时值的一半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主音四分音符 → 前倚音占 ½ 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主音附点音符 → 前倚音占 ⅔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短前倚音：现代演奏中时值很小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后倚音 Acciaccatura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小音符的符干上加一条斜线 (♪̸)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又称「装饰倚音」或「短倚音」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极快、极轻，几乎不占主音时值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与主音几乎同时发出，制造「闪过」效果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本质区别：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前倚音 = 占据时值的旋律装饰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后倚音 = 不占时值的快速点缀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本课重点 · 我容易出错的地方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我需要掌握  What I Should Master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装饰音的基本概念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附加在主音上的小音符或记号，用于美化旋律但不改变整体节拍结构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颤音 tr 的演奏方式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主音与上方二度音的快速交替，古典派从主音开始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上波音与下波音的方向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上波音：主→上→主；下波音：主→下→主，各三个音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回音 ∽ 的四音顺序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上方音→主音→下方音→主音，围绕主音「转一圈」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前倚音与后倚音的时值差异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前倚音占主音时值的一半；后倚音几乎不占时值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4572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我容易出错的地方  Where I Often Get Stuck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颤音从哪个音开始记不准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巴洛克从上方音；古典/浪漫从主音；看作品风格决定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上下波音方向画反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𝆗 是上波音 (向上)；𝆘 是下波音 (带竖线穿过，向下)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回音与反向回音混淆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普通回音从「上方」开始；反向回音从「下方」开始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前倚音的时值不会算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长前倚音占主音的一半时值，主音也只剩一半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后倚音演奏太慢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后倚音应极快极轻，与主音几乎同时发出，不要拖长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五种常见演奏符号、乐谱分析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装饰音与演奏符号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一、力度记号  Dynamic Markings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188720" cy="365760"/>
          </a:xfrm>
          <a:prstGeom prst="rect">
            <a:avLst/>
          </a:prstGeom>
          <a:solidFill>
            <a:srgbClr val="6D2E46">
              <a:alpha val="40000"/>
            </a:srgbClr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2011680"/>
            <a:ext cx="1225296" cy="457200"/>
          </a:xfrm>
          <a:prstGeom prst="rect">
            <a:avLst/>
          </a:prstGeom>
          <a:solidFill>
            <a:srgbClr val="6D2E46">
              <a:alpha val="47000"/>
            </a:srgbClr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256032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28346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920240"/>
            <a:ext cx="1261872" cy="548640"/>
          </a:xfrm>
          <a:prstGeom prst="rect">
            <a:avLst/>
          </a:prstGeom>
          <a:solidFill>
            <a:srgbClr val="6D2E46">
              <a:alpha val="54000"/>
            </a:srgbClr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5603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83464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1828800"/>
            <a:ext cx="1298448" cy="640080"/>
          </a:xfrm>
          <a:prstGeom prst="rect">
            <a:avLst/>
          </a:prstGeom>
          <a:solidFill>
            <a:srgbClr val="6D2E46">
              <a:alpha val="61000"/>
            </a:srgbClr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5603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737360"/>
            <a:ext cx="1335024" cy="731520"/>
          </a:xfrm>
          <a:prstGeom prst="rect">
            <a:avLst/>
          </a:prstGeom>
          <a:solidFill>
            <a:srgbClr val="6D2E46">
              <a:alpha val="68000"/>
            </a:srgbClr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5603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83464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43800" y="1645920"/>
            <a:ext cx="1371600" cy="822960"/>
          </a:xfrm>
          <a:prstGeom prst="rect">
            <a:avLst/>
          </a:prstGeom>
          <a:solidFill>
            <a:srgbClr val="6D2E46">
              <a:alpha val="75000"/>
            </a:srgbClr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4380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9680" y="1554480"/>
            <a:ext cx="1408176" cy="914400"/>
          </a:xfrm>
          <a:prstGeom prst="rect">
            <a:avLst/>
          </a:prstGeom>
          <a:solidFill>
            <a:srgbClr val="6D2E46">
              <a:alpha val="82000"/>
            </a:srgbClr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256032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69680" y="283464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很强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195560" y="1463040"/>
            <a:ext cx="1444752" cy="1005840"/>
          </a:xfrm>
          <a:prstGeom prst="rect">
            <a:avLst/>
          </a:prstGeom>
          <a:solidFill>
            <a:srgbClr val="6D2E46">
              <a:alpha val="89000"/>
            </a:srgbClr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95560" y="25603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fff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95560" y="28346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最强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383280"/>
            <a:ext cx="112014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3383280"/>
            <a:ext cx="73152" cy="28803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352044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完整力度等级体系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3931920"/>
            <a:ext cx="10835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基本力度记号 (从弱到强)：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ppp pianississimo 最弱      • pp pianissimo 很弱      • p piano 弱      • mp mezzo piano 中弱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mf mezzo forte 中强         • f forte 强                  • ff fortissimo 很强      • fff fortississimo 最强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变化力度记号：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crescendo (cresc.) 渐强 — 图形记号「&lt;」 (逐渐张开的角形)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diminuendo / decrescendo (dim. / decresc.) 渐弱 — 图形记号「&gt;」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sforzando (sf, sfz) 突强 — 突然加强某一个音或和弦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forte-piano (fp) — 先以强力度演奏，然后立即转为弱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力度记号通常写在五线谱的下方 (声乐谱写在上方)。在大谱表中可写在两行五线谱之间。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二、三种基本奏法  Articulation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3703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连奏 Legato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3337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记号：弧线 (Slur)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两个或多个不同音高的音符上方加一条弧线。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演奏方式：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音符之间平滑过渡，没有间断。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弦乐器：一弓拉到底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管乐器：连续吹奏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键盘乐器：手指过渡平滑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Legato 是表达抒情、歌唱性旋律的核心奏法。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意大利语意为「连贯的」。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051560"/>
            <a:ext cx="3703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断奏 Staccato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3337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记号：音符上方或下方加一个小圆点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演奏方式：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音符的实际时值大幅缩短 (约为标记时值的一半)，音与音之间有明显的间隔。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音符短促、清晰、富有弹性。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变体：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staccatissimo (尖断奏) — 加楔形记号，更短促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mezzo-staccato — 介于断奏和保持音之间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1051560"/>
            <a:ext cx="3703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051560"/>
            <a:ext cx="73152" cy="52120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保持音 Tenuto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49640" y="1600200"/>
            <a:ext cx="3337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记号：音符上方或下方加一条短横线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演奏方式：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保持音符的完整时值，且略加重音强调。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音符饱满、有重量、不缩短。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注意区分：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tenuto = 保持时值 + 略加重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legato = 平滑过渡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staccato = 缩短时值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Tenuto 常用于强调旋律中的重要音。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三、重音与速度记号  Accents and Tempo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重音 Accent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记号：&gt; (大于号样)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演奏方式：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该音符以明显高于周围音的力度演奏，制造强调效果。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普通重音 &gt; — 较强的强调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强重音 ^ — 更强的强调，常带断奏效果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marcato (marc.) — 「明显地、有力地」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sforzando (sf, sfz) — 突然加强，最强的瞬时强调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重音可以打破常规的强弱规律，制造意外的节奏感。在切分节奏中，重音是关键元素。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其他奏法：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跳音 spiccato (弦乐) — 弓在弦上反弹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拨奏 pizzicato (pizz.) — 手指拨弦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弓奏 arco — 回到正常的弓奏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滑音 glissando (gliss.) — 两音连续滑动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速度术语 (常用)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极慢与慢速：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Largo  广板  40-60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Adagio  柔板  66-76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Andante  行板 (步行速度) 76-108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中速：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Moderato  中板  108-120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Allegretto  稍快板  112-120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Allegro  快板  120-156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Vivace  活泼地  156-176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Presto  急板  168-200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Prestissimo  最急板  200+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速度变化记号：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accel. 渐快      • rit. 渐慢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 tempo 回到原速度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stringendo 加紧 (加快加强)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allargando 放宽 (渐慢渐强)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本课重点 · 我容易出错的地方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我需要掌握  What I Should Master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8 个基本力度等级的顺序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ppp &lt; pp &lt; p &lt; mp &lt; mf &lt; f &lt; ff &lt; fff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渐强渐弱的两种写法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文字 cresc./dim. 或图形记号 &lt; / 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连奏、断奏、保持音的区别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连奏=平滑过渡；断奏=缩短时值；保持音=完整时值+略加重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重音 &gt; 与突强 sf 的不同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&gt; 是相对强调，sf 是更强的瞬时强调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常用速度术语的中文与 BPM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Adagio 柔板≈70；Andante 行板≈90；Allegro 快板≈140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4572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我容易出错的地方  Where I Often Get Stuck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把 mp 与 mf 弄反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mp = mezzo piano (中弱)，mf = mezzo forte (中强)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分不清 tenuto 与 staccato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短横线 = 保持完整时值；圆点 = 缩短时值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误把弧线都当连奏线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连音线 (tie) 连接相同音高；连奏线 (slur) 连接不同音高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看不懂 cresc. 和 decresc. 缩写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cresc. = 渐强 (crescendo)；decresc./dim. = 渐弱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分不清 Andante 与 Andantino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Andante 是行板，Andantino 略快于行板 (字面「小行板」)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常见略写记号、五种演奏法记号及其特征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略写记号与音乐术语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一、反复记号  Repeat Signs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1371600"/>
            <a:ext cx="8229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600200"/>
            <a:ext cx="8229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828800"/>
            <a:ext cx="8229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057400"/>
            <a:ext cx="8229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286000"/>
            <a:ext cx="8229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1371600"/>
            <a:ext cx="73152" cy="914400"/>
          </a:xfrm>
          <a:prstGeom prst="rect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1371600"/>
            <a:ext cx="0" cy="91440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1600200"/>
            <a:ext cx="91440" cy="91440"/>
          </a:xfrm>
          <a:prstGeom prst="ellipse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1874520"/>
            <a:ext cx="91440" cy="91440"/>
          </a:xfrm>
          <a:prstGeom prst="ellipse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1600200"/>
            <a:ext cx="91440" cy="91440"/>
          </a:xfrm>
          <a:prstGeom prst="ellipse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874520"/>
            <a:ext cx="91440" cy="91440"/>
          </a:xfrm>
          <a:prstGeom prst="ellipse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41080" y="1371600"/>
            <a:ext cx="0" cy="91440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2520" y="1371600"/>
            <a:ext cx="73152" cy="914400"/>
          </a:xfrm>
          <a:prstGeom prst="rect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2651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起始反复记号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38160" y="2651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结束反复记号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1120140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291840"/>
            <a:ext cx="73152" cy="2971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42900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反复记号的使用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3840480"/>
            <a:ext cx="10835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小节反复 𝄆 ... 𝄇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用一对反复记号括住的段落表示需要重复演奏一次。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起始反复记号 𝄆 写在小节线之后；结束反复记号 𝄇 写在小节线之前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默认重复一次 (即总共演奏两遍)；如需多次重复，可在反复记号上方标注「×3」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如果只有结束反复记号 𝄇 而没有起始记号，则从乐曲开头反复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其他略写：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百分号反复 ⁒ — 表示重复前一小节的内容；如有数字 (⁒ 4) 表示重复前一小节 4 次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双百分号 ⁓⁓ — 重复前两小节的内容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bis (拉丁语「再次」) — 写在某段上方，表示该段反复一次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ter — 重复两次 (即演奏三次)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这些反复记号大大提高了乐谱书写效率，特别是在伴奏型织体重复出现时。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二、D.C.、D.S.、Coda 与 Fine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复杂乐曲结构的导航记号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10835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源于意大利语的四个跳转记号：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D.C. (Da Capo) — 「从头开始」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看到 D.C. 时，回到乐曲的开头重新演奏。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D.S. (Dal Segno) — 「从记号处开始」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乐曲中某处会有一个特殊记号 𝄋 (segno)，看到 D.S. 时，跳回该记号处重新演奏。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Coda — 「尾声」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乐曲的结尾段落，通常以特殊记号 ⊕ (圆圈中带十字) 标示。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Fine — 「结束」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看到 Fine 时，演奏到此处即停止。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常见组合：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D.C. al Fine：从头反复，到 Fine 处结束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演奏顺序：开头 → 全部 → D.C. al Fine → 回到开头 → 演奏到 Fine → 结束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D.C. al Coda：从头反复，跳到 Coda 处结束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演奏顺序：开头 → 全部 → D.C. al Coda → 回到开头 → 演奏到「To Coda ⊕」→ 跳到 Coda → 结束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D.S. al Fine：从 𝄋 反复，到 Fine 处结束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D.S. al Coda：从 𝄋 反复，跳到 Coda 处结束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三、第一/第二结尾、八度记号、震音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第一与第二结尾  Volta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用于一个乐段需要反复演奏，但每次结尾不同的情况。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记号：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第一结尾 — 写作「1.」，上方有方括号 ⌐⌐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第二结尾 — 写作「2.」，上方同样有方括号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演奏顺序：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第一次演奏 → 走第一结尾 → 反复回到段落开头 → 第二次演奏 → 跳过第一结尾 → 走第二结尾 → 继续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例如，结构 A → B → C → 𝄇 ⌐ 1. D 𝄇 ⌐ 2. E → F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演奏顺序：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第一遍：A → B → C → D → 反复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第二遍：A → B → C → 跳过 D → E → F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常见应用：流行歌曲的主歌-副歌结构、古典奏鸣曲的呈示部反复、民歌的多段歌词。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八度记号 与 震音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八度记号 Octave Signs：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8va (上方) — 实际演奏比写出的高一个八度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8vb (下方) — 实际演奏比写出的低一个八度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15ma — 高/低两个八度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loco — 标志着「回到原位」，八度记号结束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用途：避免在五线谱上方/下方使用过多加线。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震音 Tremolo (符干上的斜线)：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一条斜线 → 八分音符细分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两条斜线 → 十六分音符细分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三条斜线 → 三十二分音符细分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两种类型：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单音震音 — 一个音符上加斜线，表示该音的快速重复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双音震音 — 两个音符之间加斜线，表示两音的快速交替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震音 vs 颤音：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震音 (Tremolo) — 同一个音的快速重复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颤音 (Trill) — 主音与上方二度音的快速交替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本课重点 · 我容易出错的地方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我需要掌握  What I Should Master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反复记号 𝄆 𝄇 的使用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括住的段落重复一次；如只有 𝄇 则从开头反复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D.C.、D.S.、Coda、Fine 四个意大利语术语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D.C.=从头；D.S.=从记号 𝄋；Coda=尾声 ⊕；Fine=结束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D.C. al Fine 与 D.S. al Coda 的演奏顺序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al Fine 走到 Fine 停止；al Coda 跳到 Coda 段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第一/第二结尾的演奏方式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第一遍走 1.；反复后跳过 1. 直接走 2.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8va、8vb 的方向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8va = 高八度 (在音符上方)；8vb = 低八度 (在音符下方)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4572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我容易出错的地方  Where I Often Get Stuck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D.C. 与 D.S. 混淆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D.C. 回到开头；D.S. 回到 𝄋 记号处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忘记 al Coda 的跳转方式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先回到开头/记号，演奏到「To Coda ⊕」时跳到 Coda 段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第一结尾的演奏顺序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第一遍演奏 1.；反复后跳过 1.，直接演奏 2.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震音斜线数量数错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一条斜线 = 八分细分；两条 = 十六分；三条 = 三十二分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把震音 (tremolo) 当成颤音 (trill)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震音是同一个音的快速重复；颤音是相邻两音的快速交替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忘记 8va 结束位置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8va 持续到 loco 或虚线结束为止，不要全曲都用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音乐术语与乐谱分析实例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略写记号与音乐术语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一、意大利语速度术语完整表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极慢与慢速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Larghissimo  极广板  ≤24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极其缓慢、宽广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Grave  庄板  25-45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庄严、沉重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Largo  广板  40-60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宽广、缓慢、富有歌唱性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Lento  缓慢  45-60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缓慢但不及 Largo 那样宽广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Adagio  柔板  66-76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安适、富有抒情性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Adagietto  小柔板  70-80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略快于 Adagio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Andante  行板  76-108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步行的速度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Andantino  小行板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略快于行板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中速、快速与极快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Moderato  中板  108-120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中等速度，平稳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Allegretto  稍快板  112-120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比 Allegro 略慢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Allegro  快板  120-156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最常见的快速标记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Vivace  活泼地  156-176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充满活力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Presto  急板  168-200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非常快速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Prestissimo  最急板  200+ BPM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极快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速度变化记号：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accel. 渐快      • rit. 渐慢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 tempo 回到原速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stringendo 加紧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allargando 放宽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二、力度术语 与 表情术语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力度术语 (复习)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pianissimo (pp)        很弱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piano (p)                  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mezzo piano (mp)     中弱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mezzo forte (mf)       中强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forte (f)                    强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fortissimo (ff)            很强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crescendo (cresc.)    渐强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diminuendo (dim.)    渐弱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sforzando (sf, sfz)     突强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forte-piano (fp)         强后立即弱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力度术语是音乐表现的核心工具之一，与速度、表情术语共同塑造作品的情感色彩。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表情术语 (常用)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dolce              甜美地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cantabile         如歌地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espressivo       富有表情地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 brio           有活力地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 fuoco         热情地、火热地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grazioso           优雅地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maestoso          庄严地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appassionato   充满激情地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tranquillo         宁静地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leggiero            轻盈地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scherzando      诙谐地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pesante            沉重地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marziale           进行曲式地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表情术语通常写在乐谱开头，提示整段音乐的情感基调。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三、德语、法语术语与记忆策略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德语 与 法语术语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德语术语 (常见于德奥作曲家)：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schnell 快速        • langsam 缓慢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mäßig 中等          • bewegt 有动感地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lebhaft 活泼地     • ruhig 平静地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zart 温柔地          • innig 诚挚地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kräftig 有力地      • sehr 很、非常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法语术语 (常见于法国作曲家)：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vite 快速              • lent 缓慢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modéré 中速地    • animé 活泼地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doux 温柔地        • expressif 有表情地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léger 轻盈地        • chantant 如歌地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très 很、非常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这些母语术语往往比意大利语更具诗意。德彪西特别擅长用法语描述音乐意象。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三种术语记忆策略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策略一 · 间隔重复法 (SRS)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基于艾宾浩斯遗忘曲线，按逐渐拉长的时间间隔复习：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次：1 天后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次：3 天后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次：7 天后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次：14 天后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次：30 天后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策略二 · 语境学习法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找到使用该术语的实际乐曲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聆听音频，体会音乐效果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尝试自己演奏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将抽象术语与具体的听觉、视觉、动觉记忆相结合。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策略三 · 分类归组法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按功能分组学习：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速度组、力度组、表情组、奏法组、结构组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相关术语之间的对比帮助加深理解。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本课重点 · 我容易出错的地方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我需要掌握  What I Should Master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完整速度术语体系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Largo 广板 → Adagio 柔板 → Andante 行板 → Moderato 中板 → Allegro 快板 → Presto 急板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力度术语的中文含义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pp 很弱、p 弱、mp 中弱、mf 中强、f 强、ff 很强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常用表情术语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dolce 甜美、cantabile 如歌、espressivo 富表情、maestoso 庄严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为何意大利语成为国际通用语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意大利是巴洛克音乐中心，传统延续至今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科学的术语记忆方法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间隔重复 + 语境学习 + 分类归组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4572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我容易出错的地方  Where I Often Get Stuck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Andante 与 Andantino 易混淆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Andante = 行板 (步行速度)；Andantino = 略快于行板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Largo 与 Lento 不分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Largo 更宽广有歌唱性；Lento 单纯指缓慢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crescendo 与 diminuendo 缩写记不准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cresc. = 渐强；dim. (或 decresc.) = 渐弱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看到德/法语术语就放弃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先记住几个最常用的：schnell/vite=快；langsam/lent=慢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孤立背诵词汇表效果差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必须放在真实乐谱中学习，结合听觉记忆才能持久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2026-04-10T16:59:00Z</dcterms:created>
  <dcterms:modified xsi:type="dcterms:W3CDTF">2026-04-10T16:59:00Z</dcterms:modified>
</cp:coreProperties>
</file>