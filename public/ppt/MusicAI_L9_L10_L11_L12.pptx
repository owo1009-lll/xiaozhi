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节奏与节拍的定义、各种节奏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一、四个核心概念  Four Key Concepts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 与 节奏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 Beat / Pulse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音乐中有规律的时间脉动，是音乐时间结构的基础单位。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节拍如同人的心跳——稳定、均匀的「时间脉搏」。听众即使不看乐谱，也能随之拍手、点头或舞蹈。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 Rhythm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各种不同时值的音符在时间中的具体组织方式。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如果节拍是「稳定的脉搏」，节奏就是「脉搏之上的旋律走向」——可以包含各种长短不同的音符、休止符以及它们的组合。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节拍是骨架，节奏是血肉。同一个节拍上可以承载无数种不同的节奏。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拍子 与 拍号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拍子 Meter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节拍的强弱规律性组合。音乐中的每一拍并非同等重要——有些是「强拍」，有些是「弱拍」。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2/4 拍的强弱模式 = 强-弱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3/4 拍 = 强-弱-弱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4/4 拍 = 强-弱-次强-弱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拍号 Time Signature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写在谱号后面的分数形式。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上方数字：每小节有几拍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下方数字：以几分音符为一拍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4/4 = 每小节 4 拍，以四分音符为一拍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6/8 = 每小节 6 拍，以八分音符为一拍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拍号通常只在乐曲开头标示一次，除非中间换拍。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二、常见拍号的强弱规律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单二拍子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进行曲·波尔卡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18872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160020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单三拍子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圆舞曲·玛祖卡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2514600"/>
            <a:ext cx="118872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566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88036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566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88036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566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15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单四拍子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流行·交响曲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3794760"/>
            <a:ext cx="118872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0" y="416052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3977640"/>
            <a:ext cx="1188720" cy="59436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次强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416052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484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5029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3152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复二拍子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5806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船歌·摇篮曲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011680" y="5074920"/>
            <a:ext cx="118872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011680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0" y="544068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74720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37760" y="544068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37760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5257800"/>
            <a:ext cx="1188720" cy="59436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次强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0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63840" y="544068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863840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326880" y="5440680"/>
            <a:ext cx="1188720" cy="411480"/>
          </a:xfrm>
          <a:prstGeom prst="rect">
            <a:avLst/>
          </a:prstGeom>
          <a:solidFill>
            <a:srgbClr val="A26769">
              <a:alpha val="60000"/>
            </a:srgbClr>
          </a:solidFill>
          <a:ln w="12700">
            <a:solidFill>
              <a:srgbClr val="A2676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26880" y="5897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326880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三、单拍子与复拍子  Simple vs Compound Meter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单拍子 Simple Meter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每一拍可以均分为两等份的拍子。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常见单拍子：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2/4 — 单二拍子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3/4 — 单三拍子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4/4 — 单四拍子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这些拍子的每一拍都是一个四分音符，可以均分为两个八分音符。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节奏分割简单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适合明朗、规整的音乐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是西方音乐最基础的拍子类型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其他单拍子：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2/2 (alla breve) — 两拍子，二分音符为一拍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3/8 — 单三拍子，八分音符为一拍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复拍子 Compound Meter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每一拍可均分为三等份的拍子。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常见复拍子：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6/8 — 复二拍子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9/8 — 复三拍子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12/8 — 复四拍子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6/8 为例：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「每小节有 6 个八分音符」，但实际感觉是「每小节有 2 个大拍，每大拍 3 个八分音符」。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 拍的强弱规律：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 - 弱 - 弱 - 次强 - 弱 - 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音乐性格：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富有摇摆感、流动感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常用于船歌、摇篮曲、田园风格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混合拍子：5/8 (2+3)、7/8 (3+2+2)，常见于巴尔干民歌和现代音乐。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节拍·节奏·拍子·拍号的区分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节拍=脉搏；节奏=音符组织；拍子=强弱规律；拍号=分数记号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拍号的含义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上方=每小节拍数；下方=以几分音符为一拍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常见拍号的强弱模式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2/4=强弱；3/4=强弱弱；4/4=强弱次强弱；6/8=强弱弱次强弱弱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单拍子与复拍子的本质区别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单拍子每拍二等分；复拍子每拍三等分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拍号对应的音乐风格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3/4 圆舞曲；6/8 船歌；4/4 流行/交响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 6/8 拍当成 3/4 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6/8 = 2 大拍×3 八分；3/4 = 3 拍×2 八分，强弱模式完全不同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分不清 2/4 与 2/2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2/4 以四分音符为一拍；2/2 以二分音符为一拍，速度感不同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数错小节内的拍数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拍号上方数字就是每小节的拍数，不要用下方数字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忘记 4/4 拍有次强拍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4/4 = 强-弱-次强-弱，第 3 拍是次强拍不是弱拍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混合拍子 (5/8、7/8) 的强弱找不到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把它拆成 2+3 或 3+2 的组合，按组找强拍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不同拍号中的音值组合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一、音值组合的核心原则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为什么要遵守音值组合规则？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835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音值组合法 (Note Value Grouping / Beaming)：将音符按照拍子的要求正确书写的规则。核心目的是让乐谱在视觉上清晰地反映音乐的拍子结构，使演奏者能够快速准确地识谱。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四个基本原则：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原则一 · 拍内清晰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每一拍的音值组合应清晰可见。同一拍内的音符通常用符杠 (beam) 连接成一组，使「这一拍」在视觉上形成一个整体。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例如：4/4 拍中的四个八分音符应写成两组 (每组两个)，而不是一长串四个连接的八分音符。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原则二 · 拍间分明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音符时值不应跨越拍点 (除非使用连音线)。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如果某个音符跨越了拍线，应该用连音线把它分成两部分写：第一部分填满当前拍，第二部分开始新的一拍。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原则三 · 强拍清晰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小节内的强拍位置应在视觉上得到突出。在 4/4 拍中，第三拍 (次强拍) 的位置不应被音符「掩盖」，特别是在连音线和长音的写法中。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原则四 · 与休止符规则一致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休止符的写法也应遵循上述原则——休止符不应跨越拍点，也不应混淆拍子结构。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为何如此重要：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音值组合法不仅是「美观」问题，而是直接影响乐谱的可读性。遵循正确规则的乐谱，演奏者可以一眼看出每一拍的位置；组合混乱的乐谱即使音乐内容正确，也会让演奏者花费大量时间去「解码」节奏。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二、单拍子的音值组合  Simple Meter Grouping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2/4 与 4/4 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2/4 拍常见组合：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一个四分音符 = 1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两个八分音符 = 1 拍 (符尾相连)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四个十六分音符 = 1 拍 (符尾相连)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附点八分 + 十六分 = 1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拍和第 2 拍的音符应分别成组，绝不能让一组符杠跨越拍点。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4/4 拍的特殊规则 · 半小节中线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4/4 拍可视为两个 2/4 拍的组合，第 2 拍与第 3 拍之间有一条「半小节中线」。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八分音符不应连接超过半小节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 3 拍 (次强拍) 的位置必须清晰可见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长音跨越半小节中线时，应用连音线分开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4/4 拍别称：Common Time，可记为字母「C」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3/4 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3/4 拍每小节有 3 拍，每拍为一个四分音符。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常见组合方式：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三个独立的四分音符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 1 拍两个八分音符 + 第 2-3 拍一个二分音符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整小节一个附点二分音符 (3 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特殊情况：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3/4 拍中整小节的六个八分音符通常按拍分组——每拍两个八分音符成一组，形成「2+2+2」。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但有时为了表达「圆舞曲律动」(强烈的第一拍感觉)，可能会写成「6 个八分音符连为一组」。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附点二分音符的应用：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附点二分音符正好等于 3 拍，可以恰好填满一个 3/4 拍小节。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整小节 = 附点二分音符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半小节 = 四分 + 二分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三、复拍子组合 与 跨小节连音线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复拍子的 3+3 分组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 拍的核心规则：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按「3 个八分音符为一大拍」分组，而不是「2 个为一组」。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常见组合：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 + 3 — 两组三个八分音符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附点四分 + 附点四分 (每个=3个八分)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整小节附点二分音符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关键禁忌：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 6/8 拍写成「2+2+2」三组——那会让乐谱看起来像 3/4 拍！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9/8 拍：3 + 3 + 3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每小节 3 个大拍，常用于田园风格、童话风格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12/8 拍：3 + 3 + 3 + 3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每小节 4 个大拍，常用于慢速摇摆、布鲁斯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复拍子本质：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所有复拍子都是「以三个等分音符为一大拍」——按大拍分组即可。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跨小节连音线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当一个长音必须跨越小节线或拍点，使用连音线连接。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跨小节连接规则：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任何时值都可通过连音线跨越小节线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连音线连接的两个音符必须音高相同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后一个音符不再发音，作为前一音的延续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· 4/4 拍中的 5 拍 C 音：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拍超过了一小节的 4 拍，必须写成：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第一小节最后一拍 = 四分音符 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连音线连接到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第二小节开头的全音符 C (4 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总时值 1 + 4 = 5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附点的不可能形式：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有些长音无法用单一附点音符表示：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 拍 = 全音符 + 四分音符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 拍 = 全音符 + 附点二分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1.25 拍 = 四分 + 十六分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音值组合的四个核心原则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拍内清晰、拍间分明、强拍清晰、休止符同规则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4/4 拍的半小节中线规则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第 2、3 拍之间必须清晰可见，八分音符不跨半小节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复拍子按大拍 (3 个八分) 分组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6/8 = 3+3；9/8 = 3+3+3；12/8 = 3+3+3+3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附点二分音符 = 3 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正好填满一个 3/4 拍小节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跨小节长音的连音线写法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前小节末补齐，连音线接续到下小节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 6/8 拍写成 2+2+2 三组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会让乐谱看起来像 3/4 拍，必须写成 3+3 两组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4/4 拍中八分音符连接整个小节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8 个八分音符应写成 4+4 两组，不要写成 8 连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忘记跨半小节中线时拆分长音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4/4 拍中从第 2 拍开始的二分音符，必须用连音线拆成两个四分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混淆连音线 (tie) 与连奏线 (slur)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连接相同音高 = 连音线；连接不同音高 = 连奏线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长音不会用连音线表达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5 拍 = 四分 + 全音符 (连音线)；7 拍 = 全音符 + 附点二分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切分音与切分节奏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一、什么是切分  What is Syncopation?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 Syncopation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835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定义：将重音从正常的强拍位置移到弱拍或弱位上，打破规律的强弱交替。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要理解切分，首先要理解「正常的强弱规律」是什么：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2/4 拍：强 - 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3/4 拍：强 - 弱 - 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4/4 拍：强 - 弱 - 次强 - 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小节内每拍的前半拍是「正位」(相对强)，后半拍是「弱位」(相对弱)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切分的核心：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切分通过各种手段，让重音出现在「不该出现的位置」——即原本应该是弱拍或弱位的地方反而成为强调点。这种「错位的重音」打破了听众对节拍的预期，产生独特的张力和动感。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切分的音乐价值：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打破单调 — 让节奏更富有变化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制造惊喜 — 让听众期待落空，产生注意力的「再聚焦」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增加动感 — 让音乐具有「向前推进」的感觉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表达特定风格 — 爵士、拉丁、摇滚的核心特征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传达情感 — 焦虑、不安、激动等复杂情感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切分在不同音乐风格中的存在感不同——爵士、拉丁几乎完全建立在切分之上；圣咏、民谣则极少使用切分。但所有西方音乐传统都不可避免地涉及切分技巧。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二、切分的三种基本形式  Three Types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弱拍延长到强拍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Tied Syncopation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弱拍上的音符通过连音线延续到下一个强拍。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强拍位置没有新的发音点，反而被弱拍的延续音「覆盖」。听众感觉强拍「消失」了。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常见写法：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拍：八分音符 + 八分音符 (用连音线)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拍：八分音符的延续 + 八分音符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这是最常见的切分形式，几乎所有的爵士与流行音乐都在使用。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弱位重音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Accented Syncopation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在弱拍或弱位上加重音记号 (&gt;)，明确标记该位置应该被强调。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演奏者主动将力度施加在「不该重的位置」，制造出明确的切分感。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常见用法：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 2、4 拍上的重音 (流行音乐的「backbeat」)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八分音符后半拍的重音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十六分音符「3-e-and-a」中「e」「a」位置的重音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这种切分依赖演奏者的力度控制。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73152" cy="5212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休止强拍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Syncopation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在强拍位置使用休止符，让弱拍上的音符产生重音效果。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强拍「沉默」，弱拍因此被听众感知为相对突出。这是一种「以无声制造重音」的技巧。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常见写法：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拍：八分休止符 + 八分音符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拍：四分音符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这种切分在爵士、布鲁斯中极为常见，能制造出极强的「空气感」与张力。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三、经典切分节奏型 与 风格应用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「短-长-短」切分型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这是切分节奏中最经典、最常见的型态。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4/4 拍中的标准形式：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八分音符 + 四分音符 + 八分音符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关键点：中间的四分音符跨越了第 1 拍后半与第 2 拍前半的拍点。发音点在第 1 拍的后半 (弱位)，但持续到第 2 拍的前半 (正位)。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这种「弱位起始 + 跨拍持续」正是切分的本质。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长-短-长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四分 + 八分 + 四分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长前切分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附点四分 + 八分 + 其他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长后切分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其他 + 八分 + 附点四分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在不同风格中的应用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爵士乐 Jazz：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切分是爵士乐的灵魂。从 1900 年代的拉格泰姆开始，即是爵士节奏的核心特征。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摇摆感 (Swing)：八分音符以「长-短」不均等演奏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「2、4 拍的后半」是最典型的强调位置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摇滚与流行 Rock &amp; Pop：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Backbeat：第 2、4 拍的强调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R&amp;B、放克大量使用十六分切分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拉丁音乐 Latin：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桑巴、伦巴、波萨诺瓦几乎完全建立在切分之上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Clave 节奏型是拉丁音乐的灵魂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古典音乐：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贝多芬《第七交响曲》第二乐章大量切分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勃拉姆斯以擅长复杂切分著称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肖邦玛祖卡的民族切分风格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切分的本质：重音错位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把重音从强拍移到弱拍或弱位，打破常规强弱规律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三种切分形式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弱拍延长 (连音线)、弱位重音 (&gt; 记号)、休止强拍 (休止符占强拍)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经典「短-长-短」切分型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4/4 拍中：八分 + 四分 + 八分，中间音跨越拍点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切分与音乐风格的关系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爵士、拉丁、摇滚的核心；古典音乐中的特殊表现手法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演奏切分时保持稳定拍点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内心必须稳定数拍，切分才能被听众感知到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演奏切分变成「赶拍」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切分音必须在精确的弱位上发音，不能提前或滞后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忘记强调切分音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切分音必须略强于周围，才能体现错位重音的效果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把切分节奏写错位置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用连音线跨拍点，而不是把长音直接写在强拍上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数不清切分音在第几拍的哪一半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先把每拍分成前半、后半，再定位切分音的起始位置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忽视切分音后的休止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恰当的休止能制造切分的「空气感」，不要填满所有空白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综合复习与后测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一、第一、二章核心回顾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乐音体系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音的四种性质：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音高 — 振动频率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音值 — 振动持续时间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音量 — 振动幅度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音色 — 泛音列构成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基本音级：C D E F G A B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唱名：do re mi fa sol la 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变化音级：♯ ♭ ♮ ♯♯ ♭♭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全音与半音：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天然半音：E-F、B-C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大调模式：全全半全全全半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音组：大字二组到小字五组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= c¹ = C4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三种律制：十二平均律、纯律、五度相生律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泛音列：基音 + 整数倍泛音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记谱法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五线谱：五线四间，从下到上数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高音谱号 (G 谱号)：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五线：E-G-B-D-F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Every Good Boy Does Fine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四间：F-A-C-E (FACE)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低音谱号 (F 谱号)：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五线：G-B-D-F-A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Good Boys Do Fine Always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四间：A-C-E-G (All Cows Eat Grass)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谱号：中心永远指向 C4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中音谱号 — 中提琴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次中音谱号 — 大提琴高音区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大谱表：钢琴等键盘乐器使用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音符构成：符头、符干、符尾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 = 增加一半时值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复附点 = 增加 ¾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连音线 (tie) vs 连奏线 (slur)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二、第三、四、五章核心回顾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装饰音与演奏符号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颤音 tr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上波音 𝆗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下波音 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回音 ∽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前倚音 / 后倚音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力度 8 级：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ppp &lt; pp &lt; p &lt; mp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mf &lt; f &lt; ff &lt; fff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奏法记号：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连奏 (弧线)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断奏 (圆点)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保持音 (短横线)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重音 (&gt;)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渐强渐弱：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cresc. &lt; / dim. 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略写记号 与 术语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反复记号：𝄆 ... 𝄇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D.C. 从头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D.S. 从 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Coda 尾声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Fine 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第一/第二结尾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八度记号：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8va / 8vb / 15ma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速度术语：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Largo &lt; Adagio &lt; Andante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Moderato &lt; Allegro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Vivace &lt; Presto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表情术语：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dolce、cantabile、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espressivo、maestoso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73152" cy="5212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四个核心概念：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节拍·节奏·拍子·拍号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常见拍号：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2/4 强-弱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3/4 强-弱-弱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4/4 强-弱-次强-弱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6/8 强-弱-弱-次强-弱-弱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单拍子 vs 复拍子：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每拍二等分 vs 三等分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音值组合：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拍内清晰·拍间分明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重音从强拍移到弱位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三、易混淆概念最终澄清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六组最常混淆的概念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连音线 (tie) vs 连奏线 (slur)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tie — 连接相同音高，时值相加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slur — 连接不同音高，表示连奏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震音 (tremolo) vs 颤音 (trill)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震音 — 同一个音的快速重复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颤音 — 主音与上方二度音交替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音域 vs 音区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音域 — 乐器或人声的总音高范围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音区 — 音域中按音色划分的区段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6/8 vs 3/4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6/8 — 2 大拍 × 3 个八分 (复拍子)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3/4 — 3 拍 × 2 个八分 (单拍子)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上波音 𝆗 vs 下波音 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上波音：主→上→主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下波音：主→下→主 (带竖线)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Andante vs Andantino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Andante — 行板 (步行速度)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Andantino — 略快于行板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后测与问卷安排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本课时的最后环节将完成本研究所需的全部数据收集：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乐理后测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50 题客观选择题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涵盖五大章节全部知识点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时长约 45 分钟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与前测使用同一套试题体系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学习动机量表 (IMMS)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36 个李克特 5 点量表项目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四个维度：注意力、相关性、满意度、信心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时长约 10 分钟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技术接受度量表 (TAM)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13 个李克特 5 点量表项目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两个维度：感知有用性 (PU)、感知易用性 (PEU)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时长约 5 分钟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完成后即结束本课程。感谢大家 12 周的学习与配合！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后续展望：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本课程为基础乐理，中级乐理将涉及音程、和弦、调式、调性、曲式等内容。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系统串联五大章节的核心知识点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形成完整的乐理知识体系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清晰区分最易混淆的六组概念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tie/slur、tremolo/trill、音域/音区、6-8/3-4 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快速回忆谱号口诀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高音 EGBDF/FACE；低音 GBDFA/ACEG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熟记常用速度术语顺序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Largo → Adagio → Andante → Allegro → Presto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准备好完成三份后测材料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MTE 50 题 + IMMS 36 项 + TAM 13 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临近后测时紧张而记忆混乱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深呼吸，回忆每一章的「关键词」即可串起所有内容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后测题目看不懂术语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先找中文翻译，再根据上下文判断答案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混淆两套谱号口诀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先记住「高音第二线是 G (谱号中心)」，从这个基准推其他线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问卷打分犹豫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按第一反应选择；不要过度思考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忘记查看拍号就开始识谱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看到乐谱先看三件事：谱号、调号、拍号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2026-04-11T06:54:23Z</dcterms:created>
  <dcterms:modified xsi:type="dcterms:W3CDTF">2026-04-11T06:54:23Z</dcterms:modified>
</cp:coreProperties>
</file>