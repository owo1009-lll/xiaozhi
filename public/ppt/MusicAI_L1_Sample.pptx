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1371600" cy="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课时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音的性质与乐音体系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乐音体系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一、音的四种物理性质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54864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97280"/>
            <a:ext cx="73152" cy="24231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234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音高 Pitch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645920"/>
            <a:ext cx="5212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由振动频率(Hz)决定。频率越高音越高。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国际标准音 A4 = 440 Hz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人耳可听范围：20 Hz – 20 kHz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54864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097280"/>
            <a:ext cx="73152" cy="24231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234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音值 Duration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1645920"/>
            <a:ext cx="5212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由振动持续时间决定。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音乐中以「时值」表示长短，构成节奏的基础。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54864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703320"/>
            <a:ext cx="73152" cy="24231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840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音量 Volume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251960"/>
            <a:ext cx="5212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由振动幅度(振幅)决定。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振幅越大声音越响。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音乐中称作「力度」(ppp 至 fff)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3703320"/>
            <a:ext cx="54864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703320"/>
            <a:ext cx="73152" cy="24231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840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音色 Timbre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4251960"/>
            <a:ext cx="5212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由「泛音列的构成」决定。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是区分不同乐器、人声的核心特征。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即使音高音量相同，钢琴与小提琴听感截然不同。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二、乐音与噪音  Musical Tone vs Noise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548640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乐音 Musical Tone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2194560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6676" y="2336994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2456940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" y="2535463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4984" y="2560164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4420" y="2527145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3856" y="2441617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93292" y="2317085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2728" y="2173209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12164" y="2032704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1917752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31036" y="1846502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90472" y="1830203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49908" y="1871428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9344" y="1963668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68780" y="2092361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28216" y="2237189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87652" y="2375287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47088" y="2484852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06524" y="2548586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65960" y="2556428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25396" y="2507138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84832" y="2408499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44268" y="2276084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03704" y="2130798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63140" y="1995579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22576" y="1891774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82012" y="1835773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41448" y="1836416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00884" y="1893602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60320" y="1998303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19756" y="2133989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79192" y="2279237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38628" y="2411117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98064" y="2508807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57500" y="2556885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16936" y="2547759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76372" y="2482871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035808" y="2372465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95244" y="2233972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154680" y="2089256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14116" y="1961166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73552" y="1869923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32988" y="1829934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392424" y="1847511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451860" y="1919879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511296" y="2035613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570732" y="2176442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630168" y="2320131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89604" y="2443995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749040" y="2528479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808476" y="2560244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867912" y="2534276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927348" y="2454674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986784" y="2334006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046220" y="2191323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105656" y="2049150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165092" y="1929935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224528" y="1852498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83964" y="1829065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343400" y="1863336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402836" y="1949900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462272" y="2075090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521708" y="2219142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581144" y="2359313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640580" y="2473473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00016" y="2543599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9452" y="2558620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18888" y="2516163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878324" y="2422932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937760" y="2293647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997196" y="2148717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056632" y="2011026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116068" y="1902310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175504" y="1839734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234940" y="1833178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294376" y="1883675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353812" y="1983255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413248" y="2116195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472684" y="2261507"/>
            <a:ext cx="45720" cy="457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7724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振动规则·有固定音高·周期性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777240" y="3383280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特征：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频率稳定，可分辨音高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可构成旋律与和声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实例：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钢琴88个琴键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小提琴、长笛、人声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定音鼓、马林巴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263640" y="1051560"/>
            <a:ext cx="5486400" cy="4572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492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噪音 Noise</a:t>
            </a:r>
            <a:endParaRPr lang="en-US" sz="1500" dirty="0"/>
          </a:p>
        </p:txBody>
      </p:sp>
      <p:sp>
        <p:nvSpPr>
          <p:cNvPr id="96" name="Shape 94"/>
          <p:cNvSpPr/>
          <p:nvPr/>
        </p:nvSpPr>
        <p:spPr>
          <a:xfrm>
            <a:off x="6492240" y="2359152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551676" y="2061269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611112" y="2558990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70548" y="1911959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729984" y="2255550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789420" y="2485253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848856" y="2077786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908292" y="2342148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967728" y="1977963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027164" y="2304903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086600" y="2528955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146036" y="1902818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205472" y="2406039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264908" y="2133860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324344" y="2483531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383780" y="2000679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443216" y="2268474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502652" y="2368798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562088" y="2028123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621524" y="2530105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680960" y="2413501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740396" y="2053898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799832" y="2496597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859268" y="2003053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918704" y="2233192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978140" y="2416691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037576" y="2063152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097012" y="2417705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156448" y="1857881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215884" y="2340599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275320" y="2545384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334756" y="1954106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394192" y="2337341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453628" y="2156067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513064" y="2417111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572500" y="1974314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631936" y="2306746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691372" y="2464796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750808" y="1975398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810244" y="2544531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869680" y="2374015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929116" y="2099935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988552" y="2386350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047988" y="2045893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107424" y="2238859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166860" y="2532958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226296" y="1991225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285732" y="2486893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345168" y="1845463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404604" y="2313603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464040" y="2429727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523476" y="2041648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582912" y="2306300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642348" y="2150009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701784" y="2534795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761220" y="1854588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820656" y="2340775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880092" y="2473121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939528" y="2016889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998964" y="2428343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058400" y="2308868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0117836" y="2119896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0177272" y="2418593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0236708" y="1966514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0296144" y="2262766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355580" y="2633317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0415016" y="1986189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474452" y="2430258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533888" y="1962149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593324" y="2270524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652760" y="2381669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712196" y="2014301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771632" y="2366510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831068" y="2126145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0890504" y="2633400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0949940" y="1848212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009376" y="2311808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1068812" y="2379400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1128248" y="2080961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1187684" y="2382143"/>
            <a:ext cx="45720" cy="45720"/>
          </a:xfrm>
          <a:prstGeom prst="ellipse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649224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振动不规则·无固定音高·非周期</a:t>
            </a:r>
            <a:endParaRPr lang="en-US" sz="1100" dirty="0"/>
          </a:p>
        </p:txBody>
      </p:sp>
      <p:sp>
        <p:nvSpPr>
          <p:cNvPr id="177" name="Text 175"/>
          <p:cNvSpPr/>
          <p:nvPr/>
        </p:nvSpPr>
        <p:spPr>
          <a:xfrm>
            <a:off x="6492240" y="3383280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特征：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频率不稳定，难辨音高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主要用于节奏与色彩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实例：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锣、镲、沙锤、响板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自然界的多数声音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大鼓(无固定音高)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三、音阶与音级 (附 C 大调音阶谱例)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0" y="1554480"/>
            <a:ext cx="941832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783080"/>
            <a:ext cx="941832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011680"/>
            <a:ext cx="941832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240280"/>
            <a:ext cx="941832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468880"/>
            <a:ext cx="941832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141732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2C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𝄞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2377440" y="2286000"/>
            <a:ext cx="292608" cy="2011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1645920"/>
            <a:ext cx="0" cy="77724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3154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40280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2194560"/>
            <a:ext cx="292608" cy="2011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1880" y="1554480"/>
            <a:ext cx="0" cy="77724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3154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2148840"/>
            <a:ext cx="292608" cy="2011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1508760"/>
            <a:ext cx="0" cy="77724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3154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60520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57800" y="2057400"/>
            <a:ext cx="292608" cy="2011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32120" y="1417320"/>
            <a:ext cx="0" cy="77724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3154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20640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1965960"/>
            <a:ext cx="292608" cy="2011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1325880"/>
            <a:ext cx="0" cy="77724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3154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80760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78040" y="1874520"/>
            <a:ext cx="292608" cy="2011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52360" y="1234440"/>
            <a:ext cx="0" cy="77724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86600" y="3154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40880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138160" y="1783080"/>
            <a:ext cx="292608" cy="2011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12480" y="1143000"/>
            <a:ext cx="0" cy="77724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3154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001000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098280" y="1691640"/>
            <a:ext cx="292608" cy="2011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372600" y="1051560"/>
            <a:ext cx="0" cy="77724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06840" y="3154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961120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286000" y="2286000"/>
            <a:ext cx="4572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" y="4023360"/>
            <a:ext cx="112014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" y="4023360"/>
            <a:ext cx="73152" cy="21488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8680" y="4160520"/>
            <a:ext cx="10789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基本音级 (Natural Notes)：构成音阶的七个音 — C D E F G A B，对应唱名 do re mi fa sol la si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变化音级 (Accidentals)：通过变音记号改变基本音级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♯ 升号 — 升高半音 (C♯ 比 C 高半音)        ♭ 降号 — 降低半音 (D♭ 比 D 低半音)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♯♯ 重升号 — 升高一个全音                       ♭♭ 重降号 — 降低一个全音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♮ 还原号 — 取消之前的变音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等音：在十二平均律中音高相同但写法不同的音 (例：C♯ = D♭，F♯ = G♭)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四、全音与半音 (附钢琴键盘示意)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914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0" y="1280160"/>
            <a:ext cx="914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0" y="1280160"/>
            <a:ext cx="914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03520" y="1280160"/>
            <a:ext cx="914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914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32320" y="1280160"/>
            <a:ext cx="914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720" y="1280160"/>
            <a:ext cx="914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961120" y="1280160"/>
            <a:ext cx="914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0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00400" y="1280160"/>
            <a:ext cx="548640" cy="1188720"/>
          </a:xfrm>
          <a:prstGeom prst="rect">
            <a:avLst/>
          </a:prstGeom>
          <a:solidFill>
            <a:srgbClr val="2C1A22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0" y="1280160"/>
            <a:ext cx="548640" cy="1188720"/>
          </a:xfrm>
          <a:prstGeom prst="rect">
            <a:avLst/>
          </a:prstGeom>
          <a:solidFill>
            <a:srgbClr val="2C1A22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280160"/>
            <a:ext cx="548640" cy="1188720"/>
          </a:xfrm>
          <a:prstGeom prst="rect">
            <a:avLst/>
          </a:prstGeom>
          <a:solidFill>
            <a:srgbClr val="2C1A22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1280160"/>
            <a:ext cx="548640" cy="1188720"/>
          </a:xfrm>
          <a:prstGeom prst="rect">
            <a:avLst/>
          </a:prstGeom>
          <a:solidFill>
            <a:srgbClr val="2C1A22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0" y="1280160"/>
            <a:ext cx="548640" cy="1188720"/>
          </a:xfrm>
          <a:prstGeom prst="rect">
            <a:avLst/>
          </a:prstGeom>
          <a:solidFill>
            <a:srgbClr val="2C1A22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0560" y="3383280"/>
            <a:ext cx="1645920" cy="32004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E-F 半音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38160" y="3383280"/>
            <a:ext cx="1645920" cy="32004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B-C 半音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06908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069080"/>
            <a:ext cx="73152" cy="21945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半音 Semitone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77240" y="452628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音乐中最小的音程单位。十二平均律中一个八度均分为12个半音。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天然半音 (基本音级中)：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• E – F  (mi 到 fa)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• B – C  (si 到 do)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这两组是钢琴上唯一不夹黑键的相邻白键。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63640" y="4069080"/>
            <a:ext cx="54864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4069080"/>
            <a:ext cx="73152" cy="219456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全音 Whole Tone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92240" y="452628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等于两个半音相加。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基本音级中的天然全音：C-D, D-E, F-G, G-A, A-B (相邻白键之间均夹一个黑键)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大调音阶模式：全-全-半-全-全-全-半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这是西方调性音乐的基础。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本课重点 · 我容易出错的地方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548640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我需要掌握  What I Should Master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1691640"/>
            <a:ext cx="50749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记住音的四种性质及决定因素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音高=频率，音值=时长，音量=振幅，音色=泛音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牢记 A4 = 440 Hz 这一国际标准音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这是后续所有调音、识谱的基准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熟练背诵七个基本音级与唱名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C-D-E-F-G-A-B  ↔  do-re-mi-fa-sol-la-si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在钢琴键盘上准确指出 E-F 与 B-C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这两组是唯一不夹黑键的相邻白键，是天然半音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能写出大调音阶的全半音模式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全-全-半-全-全-全-半，并以 C 大调为例验证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5486400" cy="4572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我容易出错的地方  Where I Often Get Stuck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1691640"/>
            <a:ext cx="50749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把「音色」误解为「音质好坏」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音色其实是中性的——钢琴和小提琴音色不同，但没有好坏之分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记不住为什么 E-F、B-C 之间是半音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口诀：「白键相邻不夹黑，就是天然半音」，看着键盘记最快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把变化音级写错位置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升号 ♯ 写在符头左侧而不是右侧；同行内只需写一次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混淆 C♯ 和 D♭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在十二平均律下两者音高相同，写哪个取决于所在的调性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数全音半音时数错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窍门：先在键盘上数「键数」(包括黑键)，1键=半音，2键=全音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唱名与音名对应错位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do 永远对应 C，si (而不是 ti) 对应 B，固定唱名法不变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2026-04-10T16:16:24Z</dcterms:created>
  <dcterms:modified xsi:type="dcterms:W3CDTF">2026-04-10T16:16:24Z</dcterms:modified>
</cp:coreProperties>
</file>