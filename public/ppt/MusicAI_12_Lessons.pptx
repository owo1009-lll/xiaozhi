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</p:sldIdLst>
  <p:notesMasterIdLst>
    <p:notesMasterId r:id="rId5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notesMaster" Target="notesMasters/notesMaster1.xml"/><Relationship Id="rId52" Type="http://schemas.openxmlformats.org/officeDocument/2006/relationships/presProps" Target="presProps.xml"/><Relationship Id="rId53" Type="http://schemas.openxmlformats.org/officeDocument/2006/relationships/viewProps" Target="viewProps.xml"/><Relationship Id="rId54" Type="http://schemas.openxmlformats.org/officeDocument/2006/relationships/theme" Target="theme/theme1.xml"/><Relationship Id="rId5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515600" y="457200"/>
            <a:ext cx="1371600" cy="1371600"/>
          </a:xfrm>
          <a:prstGeom prst="ellipse">
            <a:avLst/>
          </a:prstGeom>
          <a:solidFill>
            <a:srgbClr val="6D2E46">
              <a:alpha val="30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561320" y="731520"/>
            <a:ext cx="1188720" cy="1188720"/>
          </a:xfrm>
          <a:prstGeom prst="ellipse">
            <a:avLst/>
          </a:prstGeom>
          <a:solidFill>
            <a:srgbClr val="6D2E46">
              <a:alpha val="40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1005840"/>
            <a:ext cx="1005840" cy="1005840"/>
          </a:xfrm>
          <a:prstGeom prst="ellipse">
            <a:avLst/>
          </a:prstGeom>
          <a:solidFill>
            <a:srgbClr val="6D2E46">
              <a:alpha val="50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652760" y="1280160"/>
            <a:ext cx="822960" cy="822960"/>
          </a:xfrm>
          <a:prstGeom prst="ellipse">
            <a:avLst/>
          </a:prstGeom>
          <a:solidFill>
            <a:srgbClr val="6D2E46">
              <a:alpha val="60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698480" y="1554480"/>
            <a:ext cx="640080" cy="640080"/>
          </a:xfrm>
          <a:prstGeom prst="ellipse">
            <a:avLst/>
          </a:prstGeom>
          <a:solidFill>
            <a:srgbClr val="6D2E46">
              <a:alpha val="70000"/>
            </a:srgbClr>
          </a:solidFill>
          <a:ln w="12700">
            <a:solidFill>
              <a:srgbClr val="6D2E46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188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C8956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 THEORY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1828800"/>
            <a:ext cx="109728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201168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31520" y="338328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 课时教学 PPT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731520" y="40233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University Music Theory  ·  12-Lesson Curriculum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0" y="5943600"/>
            <a:ext cx="12161520" cy="9144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6263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MusicAI 教学平台  ·  五章 · 十二课时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音的性质与乐音体系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乐音体系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1 of 12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音的四种性质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音高、音值、音量、音色的物理基础与音乐意义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乐音与噪音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振动规则性与音乐声音的关系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音阶与音级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七个基本音级 C D E F G A B 与唱名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变化音级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升号、降号、还原号的作用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全音与半音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最小音程单位与天然半音 (E-F、B-C)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等音的概念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 C♯ = D♭ 在十二平均律中的对应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音的四种物理性质及其决定因素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七个基本音级与唱名的对应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全音与半音的判断方法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钢琴键盘上的天然半音位置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理解「音色由泛音列决定」这一抽象概念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在键盘和五线谱上准确识别全音/半音关系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区分基本音级与变化音级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判断声音类型：钢琴声、鼓声、风声、长笛声分别属于乐音还是噪音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在 C 大调音阶中标出所有天然半音的位置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写出比 C 高一个半音、比 G 低一个半音的音名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解释：两位演奏家在同一钢琴上以相同力度演奏 A4，听众如何分辨？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2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音组、律制、等音、复合音、分音列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 · 乐音体系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2 of 12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音组划分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大字二组到小字五组的完整体系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的定位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小字一组 c¹，频率约 261.63 Hz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十二平均律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现代键盘标准，半音频率比 ¹²√2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纯律与五度相生律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纯律基于自然泛音；五度相生律即「三分损益法」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音高相同但记法不同的音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泛音列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基音与整数倍泛音的叠加构成音色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钢琴上音组划分与中央 C 的定位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十二平均律、纯律、五度相生律的特点比较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泛音列与音色的物理关系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音域与音区的概念区分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理解三种律制各自的优缺点与适用场合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理解泛音列与西方和声体系的物理基础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等音在不同调性中的选择依据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指出以下音属于哪一组：c¹、a²、F、c⁴、E1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写出 F♯、E♭、A♯、D♭ 的等音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若基音 f = 110 Hz，写出前 6 个泛音的频率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比较十二平均律与纯律的优缺点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3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谱号与谱表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记谱法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3 of 12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五线谱基础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五线四间、加线加间的命名规则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高音谱号 (G 谱号)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螺旋中心标示 G4，五线对应 E-G-B-D-F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低音谱号 (F 谱号)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两点夹住第四线 F3，五线对应 G-B-D-F-A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谱号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中音谱号 (中提琴)、次中音谱号 (大提琴高音区)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大谱表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钢琴等键盘乐器的双谱表系统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中央 C 的两种记法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高音谱表下加一线 = 低音谱表上加一线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高音谱号五线四间的音名与记忆口诀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低音谱号五线四间的音名与记忆口诀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中央 C 在大谱表中的两种位置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C 谱号的两种常见形式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快速识读不熟悉的加线音 (上下加二线及更远)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在不同谱号之间转换同一音高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理解 C 谱号的「中心永远指向中央 C」原理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L3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用记忆口诀写出高音谱号五线四间的所有音名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用记忆口诀写出低音谱号五线四间的所有音名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识读：高音谱表上加二线、下加二线的音是什么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将旋律 C4-D4-E4-F4-G4 改写为低音谱号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4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音符的写法、休止符的写法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 · 记谱法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4 of 12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音符的构成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符头、符干、符尾三部分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时值体系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全音符到三十二分音符的二分递减关系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符干方向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第三线及以上朝下，以下朝上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附点与复附点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增加 ½、增加 ¾ 的时值规则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休止符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全休下挂、二休上坐的形态特征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三连音与连音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不规则连音的记写方法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音符与休止符的时值对应关系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符干方向的书写规则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附点音符的时值计算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三连音的记写与演奏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区分连音线 (tie) 与连奏线 (slur) 的不同含义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复附点与多重附点的时值计算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三连音在不同节拍中的演奏感觉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L4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填空：1 个全音符 = ___ 个二分音符 = ___ 个四分音符 = ___ 个八分音符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计算：附点二分音符 = ___ 拍；复附点四分音符 = ___ 拍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判断符干方向：A4、E4、C5、G4、F5、D4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用连音线写出 5 拍长的 D4 (4/4 拍跨小节)</a:t>
            </a:r>
            <a:endParaRPr lang="en-US" sz="15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5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装饰音的定义与五种常见装饰音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装饰音与演奏符号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5 of 12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装饰音的定义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丰富和美化旋律的小音符或记号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颤音 Trill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主音与上方二度音的快速交替 (tr)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上波音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主音 → 上方二度 → 主音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下波音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主音 → 下方二度 → 主音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回音 Turn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上方音 → 主音 → 下方音 → 主音 (∽)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前倚音与后倚音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Appoggiatura 与 Acciaccatura 的区别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颤音、波音、回音的演奏顺序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前倚音与后倚音的时值差异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上波音与下波音的方向区分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装饰音的位置与符号识读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巴洛克时期颤音从上方音开始的传统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长前倚音占用主音时值的规则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回音的两种位置 (音上方 / 音之间) 的演奏差异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L5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写出 G4 颤音的演奏顺序 (按古典派方式)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写出 F4 上波音和下波音的演奏顺序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写出 D5 回音的四个音及顺序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区分前倚音与后倚音的记号特征</a:t>
            </a:r>
            <a:endParaRPr lang="en-US" sz="15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6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五种常见演奏符号、乐谱分析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 · 装饰音与演奏符号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6 of 12</a:t>
            </a:r>
            <a:endParaRPr lang="en-US" sz="11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力度记号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ppp 到 fff 的完整等级体系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渐强渐弱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crescendo (&lt;)、diminuendo (&gt;)、sforzando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连奏 Legato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弧线连接，平滑过渡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断奏 Staccato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音符上方加圆点，时值缩短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保持音 Tenuto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短横线，保持完整时值并略加重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重音 Accent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&gt; 符号，明显强调该音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8 个基本力度等级的顺序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连奏、断奏、保持音的演奏区别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意大利语速度术语 (Largo 至 Presto)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表情术语的音乐含义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区分 tenuto、legato、staccato 三种相似奏法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重音 (&gt;) 与突强 (sf) 的细微差异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渐强渐弱的力度控制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按力度从弱到强排序：mf、ppp、p、fff、mp、ff、pp、f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翻译速度术语：Adagio、Andante、Allegro、Presto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选取一首熟悉乐曲，分析其力度、速度、奏法记号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为四小节旋律添加合适的演奏指示</a:t>
            </a:r>
            <a:endParaRPr lang="en-US" sz="15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7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常见略写记号、五种演奏法记号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略写记号与音乐术语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7 of 12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反复记号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𝄆 ... 𝄇 与百分号反复记号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D.C. 与 D.S.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 Capo (从头)、Dal Segno (从记号)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Coda 与 Fine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尾声与结束的标记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第一与第二结尾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Volta 括号的演奏顺序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八度记号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8va、8vb、15ma 减少加线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震音记号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符干斜线表示快速重复或交替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反复记号的正确识读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D.C.、D.S.、Coda、Fine 的组合用法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第一/第二结尾的演奏顺序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8va、8vb 的方向与含义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复杂乐曲结构 (D.S. al Coda) 的演奏顺序推导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震音 (tremolo) 与颤音 (trill) 的区分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符干斜线数量对应的细分时值</a:t>
            </a:r>
            <a:endParaRPr lang="en-US" sz="13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解释 D.C. al Fine 与 D.S. al Coda 的演奏方式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推导：A B 𝄋 C D D.S. al Fine (Fine 在 C) 的演奏顺序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说明：四分音符上加两条斜线如何演奏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说明 8va、8vb、15ma、loco 的含义</a:t>
            </a:r>
            <a:endParaRPr lang="en-US" sz="15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8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音乐术语与乐谱分析实例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 · 略写记号与音乐术语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8 of 12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速度术语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Largo 至 Prestissimo 完整体系与 BPM 范围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速度变化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accel.、rit.、a tempo、stringendo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力度术语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意大利语力度术语的完整体系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表情术语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dolce、cantabile、espressivo 等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德语与法语术语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德奥与法国作曲家的母语标记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记忆策略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间隔重复法、分类归组法、语境学习法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意大利语速度术语的速度范围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常用表情术语的中文含义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为何意大利语成为国际通用音乐语言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运用间隔重复法记忆术语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区分意思相近的术语 (如 Andante 与 Andantino)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德语、法语术语与意大利语的对应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多个术语在同一乐谱中的综合理解</a:t>
            </a:r>
            <a:endParaRPr lang="en-US" sz="13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翻译：Adagio、Andante、Allegro、Presto 的中文与 BPM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解释：dolce e cantabile、con brio e maestoso 的含义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选取一首古典作品，找出所有意大利语术语并翻译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为四小节旋律添加完整演奏指示 (速度、力度、表情、奏法)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9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节奏与节拍的定义、各种节奏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9 of 12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四个核心概念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节拍、节奏、拍子、拍号的区分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拍号的含义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上方为拍数，下方为拍单位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常见拍号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2/4、3/4、4/4、6/8 的强弱规律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单拍子与复拍子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每拍二等分 vs 每拍三等分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小节线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单线、复纵线、终止线、反复线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指挥图示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2、3、4 拍子的指挥手势</a:t>
            </a:r>
            <a:endParaRPr lang="en-US" sz="13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四个核心概念的辨析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常见拍号的强弱规律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单拍子与复拍子的本质区别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强拍位置的判断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区分 6/8 拍 (复二拍子) 与 3/4 拍 (单三拍子)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理解「复拍子按大拍计算」的本质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混合拍子 (5/8、7/8) 的强弱模式</a:t>
            </a:r>
            <a:endParaRPr lang="en-US" sz="13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L9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判断单/复拍子：2/4、3/4、4/4、6/8、9/8、12/8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标出 4/4 拍的完整强弱模式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说明 6/8 拍与 3/4 拍的本质区别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练习 2/4、3/4、4/4 拍的指挥图示动作</a:t>
            </a:r>
            <a:endParaRPr lang="en-US" sz="15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10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不同拍号中的音值组合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10 of 12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音值组合的核心原则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拍内清晰、拍间分明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单拍子组合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2/4、3/4、4/4 中按拍分组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4/4 拍特殊规则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避免跨越半小节中线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复拍子组合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6/8、9/8、12/8 按大拍 (3 个八分音符) 分组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连音线跨小节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长音超过小节时的写法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符尾与符杠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正确连接同拍内的音符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「拍内清晰、拍间分明」的核心原则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4/4 拍中半小节中线的处理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6/8 拍按 3+3 分组的规则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跨小节连音线的正确使用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判断何时需要拆分音符以避免跨越拍点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区分 6/8 拍与 3/4 拍的不同组合方式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复杂节奏中保持视觉清晰度</a:t>
            </a:r>
            <a:endParaRPr lang="en-US" sz="13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L10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判断对错：4/4 拍中 8 个八分音符用一根符杠连接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用连音线写出 4/4 拍中 6 拍长的 G4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在 6/8 拍中写出 6 个八分音符的正确分组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改写跨越半小节中线的不规范节奏</a:t>
            </a:r>
            <a:endParaRPr lang="en-US" sz="15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11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切分音与切分节奏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11 of 12</a:t>
            </a:r>
            <a:endParaRPr lang="en-US" sz="11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切分的定义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重音从强拍移到弱拍或弱位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弱拍延长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通过连音线将弱拍延续到强拍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弱位重音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在弱位上加重音记号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休止强拍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强拍位置使用休止符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「短-长-短」切分型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八分 + 四分 + 八分的经典型态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切分的风格应用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爵士、拉丁、流行、古典</a:t>
            </a:r>
            <a:endParaRPr lang="en-US" sz="13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切分的本质：重音错位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切分的三种基本形式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「短-长-短」经典切分型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切分在不同音乐风格中的特征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正确演奏切分而不变成「赶拍」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区分写出的切分与靠演奏处理的切分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在保持稳定拍点的同时强调切分音</a:t>
            </a:r>
            <a:endParaRPr lang="en-US" sz="13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L11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用自己的话解释「切分」的本质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识别三种切分形式的不同特征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拍打对比：规整节奏 vs 切分节奏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在 4/4 拍中创作 4 小节含切分的节奏型</a:t>
            </a:r>
            <a:endParaRPr lang="en-US" sz="15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C1A2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65760" y="0"/>
            <a:ext cx="73152" cy="685800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822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400" kern="0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097280" y="1371600"/>
            <a:ext cx="1371600" cy="0"/>
          </a:xfrm>
          <a:prstGeom prst="line">
            <a:avLst/>
          </a:prstGeom>
          <a:noFill/>
          <a:ln w="25400">
            <a:solidFill>
              <a:srgbClr val="C8956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7280" y="164592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 12 课时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097280" y="246888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综合复习与后测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1097280" y="4754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CE2D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 · 节奏与节拍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97280" y="6035040"/>
            <a:ext cx="10058400" cy="0"/>
          </a:xfrm>
          <a:prstGeom prst="line">
            <a:avLst/>
          </a:prstGeom>
          <a:noFill/>
          <a:ln w="9525">
            <a:solidFill>
              <a:srgbClr val="A2676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61722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基础乐理 · University Music Theory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498080" y="6172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2676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Lesson 12 of 12</a:t>
            </a:r>
            <a:endParaRPr lang="en-US" sz="11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本课知识点  Key Knowledge Points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234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71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第一章回顾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乐音体系：音的性质、音阶、律制、泛音列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355080" y="123444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949440" y="114300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86600" y="118872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第二章回顾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记谱法：谱号、谱表、音符、休止符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0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1234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371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第三章回顾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装饰音与演奏符号：颤音、波音、回音、力度、奏法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55080" y="292608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550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949440" y="283464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086600" y="288036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第四章回顾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略写记号与音乐术语：反复记号、意大利语术语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1234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371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第五章回顾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节奏与节拍：拍号、音值组合、切分节奏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355080" y="4617720"/>
            <a:ext cx="457200" cy="457200"/>
          </a:xfrm>
          <a:prstGeom prst="ellipse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4617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6949440" y="4526280"/>
            <a:ext cx="4709160" cy="150876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086600" y="4572000"/>
            <a:ext cx="4572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6D2E4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后测安排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题客观题 + 学习动机问卷 + 技术接受度问卷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重点与难点  Key Points &amp; Challenges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5486400" cy="5029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重点  Key Points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77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五大章节核心知识点的系统串联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薄弱环节的识别与强化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完整乐理知识体系的形成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为后续中级乐理学习做准备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5486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051560"/>
            <a:ext cx="5486400" cy="502920"/>
          </a:xfrm>
          <a:prstGeom prst="rect">
            <a:avLst/>
          </a:prstGeom>
          <a:solidFill>
            <a:srgbClr val="C8956D"/>
          </a:solidFill>
          <a:ln w="12700">
            <a:solidFill>
              <a:srgbClr val="C8956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105156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难点  Challenges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92240" y="1737360"/>
            <a:ext cx="5074920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知识点之间的横向联系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实际乐谱中综合运用所学概念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易混淆概念的最终澄清 (如 tie vs slur、tremolo vs trill)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B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4572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3200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L12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508760" y="292608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课堂练习  In-Class Exercises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508760" y="777240"/>
            <a:ext cx="731520" cy="0"/>
          </a:xfrm>
          <a:prstGeom prst="line">
            <a:avLst/>
          </a:prstGeom>
          <a:noFill/>
          <a:ln w="31750">
            <a:solidFill>
              <a:srgbClr val="C8956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556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大学乐理课程  ·  MusicAI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48640" y="1051560"/>
            <a:ext cx="11201400" cy="5212080"/>
          </a:xfrm>
          <a:prstGeom prst="rect">
            <a:avLst/>
          </a:prstGeom>
          <a:solidFill>
            <a:srgbClr val="FFFFFF"/>
          </a:solidFill>
          <a:ln w="6350">
            <a:solidFill>
              <a:srgbClr val="D4B5A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1051560"/>
            <a:ext cx="73152" cy="5212080"/>
          </a:xfrm>
          <a:prstGeom prst="rect">
            <a:avLst/>
          </a:prstGeom>
          <a:solidFill>
            <a:srgbClr val="6D2E46"/>
          </a:solidFill>
          <a:ln w="12700">
            <a:solidFill>
              <a:srgbClr val="6D2E4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4400" y="1371600"/>
            <a:ext cx="10698480" cy="457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1    完成 50 题乐理后测 (涵盖五大章节)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2    完成学习动机量表 (IMMS, 36 项)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3    完成技术接受度量表 (TAM, 13 项)</a:t>
            </a:r>
            <a:endParaRPr lang="en-US" sz="15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500" dirty="0">
                <a:solidFill>
                  <a:srgbClr val="2C1A2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练习 4    选取一首完整作品，进行综合乐谱分析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49</Slides>
  <Notes>49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大学乐理课程 · 12课时教学PPT</dc:title>
  <dc:subject>PptxGenJS Presentation</dc:subject>
  <dc:creator>MusicAI</dc:creator>
  <cp:lastModifiedBy>MusicAI</cp:lastModifiedBy>
  <cp:revision>1</cp:revision>
  <dcterms:created xsi:type="dcterms:W3CDTF">2026-04-09T13:36:45Z</dcterms:created>
  <dcterms:modified xsi:type="dcterms:W3CDTF">2026-04-09T13:36:45Z</dcterms:modified>
</cp:coreProperties>
</file>